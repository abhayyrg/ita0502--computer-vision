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4073" r:id="rId1"/>
  </p:sldMasterIdLst>
  <p:notesMasterIdLst>
    <p:notesMasterId r:id="rId11"/>
  </p:notesMasterIdLst>
  <p:sldIdLst>
    <p:sldId id="312" r:id="rId2"/>
    <p:sldId id="313" r:id="rId3"/>
    <p:sldId id="350" r:id="rId4"/>
    <p:sldId id="359" r:id="rId5"/>
    <p:sldId id="343" r:id="rId6"/>
    <p:sldId id="344" r:id="rId7"/>
    <p:sldId id="354" r:id="rId8"/>
    <p:sldId id="360" r:id="rId9"/>
    <p:sldId id="3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4132F3-99DB-48C6-8B13-37CD8963EE16}" v="1" dt="2026-08-18T05:12:37.9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876" y="-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635B01-8286-45F0-9637-A1D9B15E4FE1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2543A0-99BF-489B-A09E-E21425E91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829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DEAC5D-9A4D-9E19-0922-03AD3F4495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2CCCF1A-6B10-F6E6-0077-DE56D4FF9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FD317CD-37D6-DB3E-DC51-D20AA5428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0A84BA-0CFC-80D6-F8D7-972DEE62A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E70FB81-8477-A74F-B0BF-5943F75B7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471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2BD0F0-F61F-A161-BE2E-DDF4B6932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D5B8A77-6CD2-95D9-1FC2-3DBA64B8A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6EE78FF-B515-EC59-668E-A0C570743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C533479-A21F-B011-321A-E43AC13D8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B12832D-3F29-5D19-2639-77FF9305D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986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A48F1D-C6F8-E24C-207D-1A32C164D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BEE4F0C-A5F6-F81F-EDA6-307182A9B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F8169B0-BD48-17CC-D9AC-94145A32A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BCCE5C7-C677-E553-7D02-4788B978F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5ADE272-52DE-461E-98FF-54EDFBF37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957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B3FA62-F84C-7531-88B1-62E5D5ED9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F215EEE-76E2-0A32-692E-6537A9A313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ECC1012-73C2-27FE-2E67-33F2ADAD0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E1FF949-7B2D-A230-9BC7-6FA771F7D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CD02F68-7A83-3A54-BA09-4E4ECF2CF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5477865-9CF9-E9B4-A9AD-F20C51282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75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02E5CF-2687-D294-986D-C81813CFF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2E3017A-B0C7-FEAC-E70E-553FDEA0A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B851D5A-583B-AEF3-33BA-9BE870AE4D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2FA1EB09-017F-C69F-71EE-285FC02450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065DFC2C-5F61-A251-11A5-8DD64F0CB9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45DD12E7-5E4D-A31C-B389-CCE97309D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E0006131-D58C-4E0E-68FE-E6BC5FA93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C5764DA-0C19-336F-06D9-8B2657957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381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58AD71-7C73-99DD-B23F-115E2A28C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DBE5CCA-F431-414C-A46B-F7885039B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98E3884-F158-E90B-D44A-DF67A23C8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97AC97D-B7D8-CED1-A5F5-934AC5E85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95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0087789-248A-BF72-69DC-9C17B6A3B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DBB645A-FAD8-578F-F258-622CD862E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F7CDA46-DAA1-77AD-2E57-02166765D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77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6C1E0E-57E9-A2D9-69EB-DB416F26A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280AA2-F4EC-648E-2F1B-2FE724671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70D2476-E505-CD16-0824-CC591C33E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8055D81-38AB-A5A0-879A-C991F58CA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7068DF3-0EA1-EC92-67D8-B3DBCD427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0C6823C-D973-F5FF-67C1-5ABE45EFB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295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779649-E545-77A4-72A8-7674F9502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8D06AEA9-A6C8-80F8-1A72-C4742BFA06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55CE0C8-8BF9-E16E-CC42-D30DBC66C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2465324-ACAA-70D3-583C-213A236BE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C5B7434-BE5B-D34E-5BB8-796E4AFAB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4485484-7804-80A4-BF7A-B95C3A2B2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583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90209B-7F8A-9372-6C6B-EDC00435D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2F94BB9-BF3E-3487-6CFE-541CCC211E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4755D29-F859-A842-A878-DFFD914C3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23ABD9-13A8-F8FC-823A-47B606F9E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FB6D44D-4F38-4F1F-7977-B3FAF19E5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47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77C2AAE-2CAE-5F69-633E-04FF61497D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280F20E-8451-72F6-66D6-441D719F9D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548B44B-572D-9C43-0778-C494BA04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620FF1D-70D6-2955-03F5-8BFCF56B0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2931339-83CD-352F-4161-9BF5E3DAB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26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4F9FDEB-5507-9D2F-A13C-580338680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7220231-276F-2742-FC17-3B6A91550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2AD9B5D-EDE3-C6D7-204A-8EA3267FA7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10D50B-76D3-4FD8-AABC-626A40B53236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C636E3F-11E1-F8CD-AC0B-95410834CF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16C283A-34E9-A1C6-373B-FFACA46D0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526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4" r:id="rId1"/>
    <p:sldLayoutId id="2147484075" r:id="rId2"/>
    <p:sldLayoutId id="2147484076" r:id="rId3"/>
    <p:sldLayoutId id="2147484077" r:id="rId4"/>
    <p:sldLayoutId id="2147484078" r:id="rId5"/>
    <p:sldLayoutId id="2147484079" r:id="rId6"/>
    <p:sldLayoutId id="2147484080" r:id="rId7"/>
    <p:sldLayoutId id="2147484081" r:id="rId8"/>
    <p:sldLayoutId id="2147484082" r:id="rId9"/>
    <p:sldLayoutId id="2147484083" r:id="rId10"/>
    <p:sldLayoutId id="21474840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776486"/>
              </p:ext>
            </p:extLst>
          </p:nvPr>
        </p:nvGraphicFramePr>
        <p:xfrm>
          <a:off x="391040" y="4406900"/>
          <a:ext cx="3224276" cy="173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2427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29712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000" dirty="0"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Supervisor</a:t>
                      </a:r>
                      <a:r>
                        <a:rPr lang="en-US" sz="2000" baseline="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:</a:t>
                      </a:r>
                    </a:p>
                    <a:p>
                      <a:pPr lvl="0">
                        <a:buNone/>
                      </a:pP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Dr. </a:t>
                      </a:r>
                      <a:r>
                        <a:rPr lang="en-US" sz="2000" dirty="0" smtClean="0">
                          <a:latin typeface="Times New Roman"/>
                          <a:cs typeface="Times New Roman"/>
                        </a:rPr>
                        <a:t>R C </a:t>
                      </a:r>
                      <a:r>
                        <a:rPr lang="en-US" sz="2000" dirty="0" err="1" smtClean="0">
                          <a:latin typeface="Times New Roman"/>
                          <a:cs typeface="Times New Roman"/>
                        </a:rPr>
                        <a:t>Jeni</a:t>
                      </a:r>
                      <a:r>
                        <a:rPr lang="en-US" sz="2000" baseline="0" dirty="0" smtClean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/>
                          <a:cs typeface="Times New Roman"/>
                        </a:rPr>
                        <a:t>Gracia</a:t>
                      </a:r>
                      <a:endParaRPr lang="en-US" sz="2000" dirty="0"/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9712">
                <a:tc>
                  <a:txBody>
                    <a:bodyPr/>
                    <a:lstStyle/>
                    <a:p>
                      <a:endParaRPr lang="en-US" sz="2000" baseline="0" dirty="0">
                        <a:latin typeface="Times New Roman"/>
                        <a:cs typeface="Times New Roman"/>
                      </a:endParaRPr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30679">
                <a:tc>
                  <a:txBody>
                    <a:bodyPr/>
                    <a:lstStyle/>
                    <a:p>
                      <a:endParaRPr lang="en-US" sz="1600" baseline="0" dirty="0">
                        <a:latin typeface="Times New Roman"/>
                        <a:cs typeface="Times New Roman"/>
                      </a:endParaRPr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0" name="Title 1"/>
          <p:cNvSpPr txBox="1">
            <a:spLocks/>
          </p:cNvSpPr>
          <p:nvPr/>
        </p:nvSpPr>
        <p:spPr>
          <a:xfrm>
            <a:off x="1525916" y="264543"/>
            <a:ext cx="9245600" cy="12853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endParaRPr lang="en-US" sz="3200" b="1" dirty="0"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1886301"/>
            <a:ext cx="12192000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ITA0502 </a:t>
            </a:r>
            <a:r>
              <a:rPr lang="en-US" sz="28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– Computer Vision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264543"/>
            <a:ext cx="10274300" cy="10017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339B6CF4-2DBA-4F7B-B834-D28C9944010E}"/>
              </a:ext>
            </a:extLst>
          </p:cNvPr>
          <p:cNvSpPr txBox="1"/>
          <p:nvPr/>
        </p:nvSpPr>
        <p:spPr>
          <a:xfrm>
            <a:off x="2767781" y="2879500"/>
            <a:ext cx="696123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Plastic Waste Detection in Water Bodies using Computer Vision</a:t>
            </a:r>
            <a:r>
              <a:rPr lang="en-IN" sz="2800" dirty="0"/>
              <a:t>.</a:t>
            </a:r>
            <a:endParaRPr lang="en-US" sz="2800" b="1" dirty="0">
              <a:latin typeface="Times New Roman"/>
              <a:cs typeface="Times New Roman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534400" y="4724400"/>
            <a:ext cx="35687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Students :</a:t>
            </a:r>
          </a:p>
          <a:p>
            <a:pPr fontAlgn="t">
              <a:lnSpc>
                <a:spcPct val="150000"/>
              </a:lnSpc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V.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Venkata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Susheel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Chowdary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- 192472060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fontAlgn="t">
              <a:lnSpc>
                <a:spcPct val="150000"/>
              </a:lnSpc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Y.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Abhay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192411219</a:t>
            </a:r>
          </a:p>
          <a:p>
            <a:pPr fontAlgn="t">
              <a:lnSpc>
                <a:spcPct val="150000"/>
              </a:lnSpc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T.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Gnana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Ashwanth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– 192472174</a:t>
            </a:r>
          </a:p>
          <a:p>
            <a:pPr fontAlgn="t">
              <a:lnSpc>
                <a:spcPct val="150000"/>
              </a:lnSpc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M.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Jashwanth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– 192472280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fontAlgn="t">
              <a:lnSpc>
                <a:spcPct val="150000"/>
              </a:lnSpc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N.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Venkata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Sai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Sohith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- 192425140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/>
          <p:cNvSpPr txBox="1"/>
          <p:nvPr/>
        </p:nvSpPr>
        <p:spPr>
          <a:xfrm>
            <a:off x="566928" y="518928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latin typeface="Times New Roman" pitchFamily="18" charset="0"/>
                <a:cs typeface="Times New Roman" pitchFamily="18" charset="0"/>
              </a:rPr>
              <a:t>Agenda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1140720"/>
            <a:ext cx="777240" cy="50292"/>
          </a:xfrm>
          <a:prstGeom prst="rect">
            <a:avLst/>
          </a:prstGeom>
          <a:solidFill>
            <a:srgbClr val="00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85800" y="1497336"/>
            <a:ext cx="566928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latin typeface="Times New Roman" pitchFamily="18" charset="0"/>
                <a:cs typeface="Times New Roman" pitchFamily="18" charset="0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44168" y="1497336"/>
            <a:ext cx="4480560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53312" y="1908816"/>
            <a:ext cx="457200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latin typeface="Times New Roman" pitchFamily="18" charset="0"/>
                <a:cs typeface="Times New Roman" pitchFamily="18" charset="0"/>
              </a:rPr>
              <a:t>Context and proposed system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44168" y="2530608"/>
            <a:ext cx="4526280" cy="13716"/>
          </a:xfrm>
          <a:prstGeom prst="rect">
            <a:avLst/>
          </a:prstGeom>
          <a:solidFill>
            <a:srgbClr val="284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355080" y="1497336"/>
            <a:ext cx="566928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latin typeface="Times New Roman" pitchFamily="18" charset="0"/>
                <a:cs typeface="Times New Roman" pitchFamily="18" charset="0"/>
              </a:rP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13448" y="1497336"/>
            <a:ext cx="4480560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latin typeface="Times New Roman" pitchFamily="18" charset="0"/>
                <a:cs typeface="Times New Roman" pitchFamily="18" charset="0"/>
              </a:rPr>
              <a:t>Literature 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22592" y="1908816"/>
            <a:ext cx="457200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dirty="0">
                <a:latin typeface="Times New Roman" pitchFamily="18" charset="0"/>
                <a:cs typeface="Times New Roman" pitchFamily="18" charset="0"/>
              </a:rPr>
              <a:t>Research direction and identified gaps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13448" y="2530608"/>
            <a:ext cx="4526280" cy="13716"/>
          </a:xfrm>
          <a:prstGeom prst="rect">
            <a:avLst/>
          </a:prstGeom>
          <a:solidFill>
            <a:srgbClr val="284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85800" y="3033528"/>
            <a:ext cx="566928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latin typeface="Times New Roman" pitchFamily="18" charset="0"/>
                <a:cs typeface="Times New Roman" pitchFamily="18" charset="0"/>
              </a:rPr>
              <a:t>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44168" y="3033528"/>
            <a:ext cx="4480560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53312" y="3445008"/>
            <a:ext cx="457200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latin typeface="Times New Roman" pitchFamily="18" charset="0"/>
                <a:cs typeface="Times New Roman" pitchFamily="18" charset="0"/>
              </a:rPr>
              <a:t>The challenge AquaGuard-AI addresses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44168" y="4066800"/>
            <a:ext cx="4526280" cy="13716"/>
          </a:xfrm>
          <a:prstGeom prst="rect">
            <a:avLst/>
          </a:prstGeom>
          <a:solidFill>
            <a:srgbClr val="284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355080" y="3033528"/>
            <a:ext cx="566928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latin typeface="Times New Roman" pitchFamily="18" charset="0"/>
                <a:cs typeface="Times New Roman" pitchFamily="18" charset="0"/>
              </a:rP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13448" y="3033528"/>
            <a:ext cx="4480560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latin typeface="Times New Roman" pitchFamily="18" charset="0"/>
                <a:cs typeface="Times New Roman" pitchFamily="18" charset="0"/>
              </a:rPr>
              <a:t>Objectives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22592" y="3445008"/>
            <a:ext cx="457200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latin typeface="Times New Roman" pitchFamily="18" charset="0"/>
                <a:cs typeface="Times New Roman" pitchFamily="18" charset="0"/>
              </a:rPr>
              <a:t>Project goals and intended outcomes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13448" y="4066800"/>
            <a:ext cx="4526280" cy="13716"/>
          </a:xfrm>
          <a:prstGeom prst="rect">
            <a:avLst/>
          </a:prstGeom>
          <a:solidFill>
            <a:srgbClr val="284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85800" y="4569720"/>
            <a:ext cx="566928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latin typeface="Times New Roman" pitchFamily="18" charset="0"/>
                <a:cs typeface="Times New Roman" pitchFamily="18" charset="0"/>
              </a:rPr>
              <a:t>05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44168" y="4569720"/>
            <a:ext cx="4480560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latin typeface="Times New Roman" pitchFamily="18" charset="0"/>
                <a:cs typeface="Times New Roman" pitchFamily="18" charset="0"/>
              </a:rPr>
              <a:t>System Architecture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53312" y="4981200"/>
            <a:ext cx="457200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latin typeface="Times New Roman" pitchFamily="18" charset="0"/>
                <a:cs typeface="Times New Roman" pitchFamily="18" charset="0"/>
              </a:rPr>
              <a:t>End-to-end design and data flow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44168" y="5602992"/>
            <a:ext cx="4526280" cy="13716"/>
          </a:xfrm>
          <a:prstGeom prst="rect">
            <a:avLst/>
          </a:prstGeom>
          <a:solidFill>
            <a:srgbClr val="284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355080" y="4569720"/>
            <a:ext cx="566928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latin typeface="Times New Roman" pitchFamily="18" charset="0"/>
                <a:cs typeface="Times New Roman" pitchFamily="18" charset="0"/>
              </a:rPr>
              <a:t>06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13448" y="4569720"/>
            <a:ext cx="4480560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 dirty="0">
                <a:latin typeface="Times New Roman" pitchFamily="18" charset="0"/>
                <a:cs typeface="Times New Roman" pitchFamily="18" charset="0"/>
              </a:rPr>
              <a:t>Modules Introduction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22592" y="4981200"/>
            <a:ext cx="457200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latin typeface="Times New Roman" pitchFamily="18" charset="0"/>
                <a:cs typeface="Times New Roman" pitchFamily="18" charset="0"/>
              </a:rPr>
              <a:t>Five modules and team ownership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13448" y="5602992"/>
            <a:ext cx="4526280" cy="13716"/>
          </a:xfrm>
          <a:prstGeom prst="rect">
            <a:avLst/>
          </a:prstGeom>
          <a:solidFill>
            <a:srgbClr val="284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483159" y="2475743"/>
            <a:ext cx="8631346" cy="426468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Plastic pollution in water bodies is a major environmental challenge worldwide.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of plastic waste is time-consuming, expensive, and inefficient.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enables automatic detection and analysis of plastic waste from images.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accurately recognize and classify various plastic materials.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helps authorities take faster action to reduce pollution.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an intelligent solution for sustainable water body management.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67" y="294968"/>
            <a:ext cx="10598433" cy="13957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739535" y="1821604"/>
            <a:ext cx="431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1026" name="Picture 2" descr="The 4 Most Common Ways Our Water is Being Polluted and How You Can Tackle  the Dangerous Effects - SpringWell Water Filtration System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1356" y="2914650"/>
            <a:ext cx="3095068" cy="25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0983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615A40A-0559-529A-EB4D-B39B5E1C87F7}"/>
              </a:ext>
            </a:extLst>
          </p:cNvPr>
          <p:cNvSpPr txBox="1"/>
          <p:nvPr/>
        </p:nvSpPr>
        <p:spPr>
          <a:xfrm>
            <a:off x="720213" y="2540525"/>
            <a:ext cx="10215716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D26C8F9-B2B7-1495-9C2A-2D323A70A04D}"/>
              </a:ext>
            </a:extLst>
          </p:cNvPr>
          <p:cNvSpPr txBox="1"/>
          <p:nvPr/>
        </p:nvSpPr>
        <p:spPr>
          <a:xfrm>
            <a:off x="4572001" y="1444722"/>
            <a:ext cx="87605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xmlns="" id="{7EAD4E7B-1624-F0FD-7EEA-00DD832146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151527"/>
              </p:ext>
            </p:extLst>
          </p:nvPr>
        </p:nvGraphicFramePr>
        <p:xfrm>
          <a:off x="720213" y="2074606"/>
          <a:ext cx="10751574" cy="46203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87111">
                  <a:extLst>
                    <a:ext uri="{9D8B030D-6E8A-4147-A177-3AD203B41FA5}">
                      <a16:colId xmlns:a16="http://schemas.microsoft.com/office/drawing/2014/main" xmlns="" val="1003140156"/>
                    </a:ext>
                  </a:extLst>
                </a:gridCol>
                <a:gridCol w="2661732">
                  <a:extLst>
                    <a:ext uri="{9D8B030D-6E8A-4147-A177-3AD203B41FA5}">
                      <a16:colId xmlns:a16="http://schemas.microsoft.com/office/drawing/2014/main" xmlns="" val="1113035945"/>
                    </a:ext>
                  </a:extLst>
                </a:gridCol>
                <a:gridCol w="2822725">
                  <a:extLst>
                    <a:ext uri="{9D8B030D-6E8A-4147-A177-3AD203B41FA5}">
                      <a16:colId xmlns:a16="http://schemas.microsoft.com/office/drawing/2014/main" xmlns="" val="4114984985"/>
                    </a:ext>
                  </a:extLst>
                </a:gridCol>
                <a:gridCol w="3680006">
                  <a:extLst>
                    <a:ext uri="{9D8B030D-6E8A-4147-A177-3AD203B41FA5}">
                      <a16:colId xmlns:a16="http://schemas.microsoft.com/office/drawing/2014/main" xmlns="" val="3680201465"/>
                    </a:ext>
                  </a:extLst>
                </a:gridCol>
              </a:tblGrid>
              <a:tr h="2979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/ Model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785447561"/>
                  </a:ext>
                </a:extLst>
              </a:tr>
              <a:tr h="10839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 &amp; Zhu, 2024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 YOLOv5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plastic waste detection on water surfaces with faster processing.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414071192"/>
                  </a:ext>
                </a:extLst>
              </a:tr>
              <a:tr h="8096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Kirana et al., 2024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YOLOv6 &amp; YOLOv7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Detected plastic bottles on water surfaces using deep learning.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750414417"/>
                  </a:ext>
                </a:extLst>
              </a:tr>
              <a:tr h="8096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 et al., 2025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YOLO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marine litter detection in challenging environments.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408052496"/>
                  </a:ext>
                </a:extLst>
              </a:tr>
              <a:tr h="8096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 et al., 2025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YOLOv12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Supported real-time marine litter detection and pollution monitoring.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59580697"/>
                  </a:ext>
                </a:extLst>
              </a:tr>
              <a:tr h="8096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 Study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YOLOv8 + Object Tracking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Detected and tracked plastic bottles in rivers and streams.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877793856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2345E4D-797C-B10D-8A4A-1BCEF7DE0C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285" y="163077"/>
            <a:ext cx="9416844" cy="118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765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463132" y="2485889"/>
            <a:ext cx="8189255" cy="375759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amounts of plastic waste accumulate in rivers, lakes, and oceans every day. 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monitoring methods require extensive manpower and regular field inspections. Delayed detection of plastic waste increases environmental and marine ecosystem damage. 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often fail to provide continuous and real-time pollution monitoring.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 identification of waste is prone to errors and inconsistent reporting. 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automated Computer Vision-based system is needed for accurate and continuous plastic waste detection.</a:t>
            </a:r>
            <a:endParaRPr lang="en-US" sz="18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85884" y="1872114"/>
            <a:ext cx="6536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52C8EDD-293C-789A-091D-733626A444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67" y="294968"/>
            <a:ext cx="10598433" cy="1395719"/>
          </a:xfrm>
          <a:prstGeom prst="rect">
            <a:avLst/>
          </a:prstGeom>
        </p:spPr>
      </p:pic>
      <p:pic>
        <p:nvPicPr>
          <p:cNvPr id="8" name="Picture 7" descr="Cartoon Problem Solving Stock Illustrations – 8,766 Cartoon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9544" y="1886628"/>
            <a:ext cx="3439886" cy="4646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6641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459754" y="2409374"/>
            <a:ext cx="8605587" cy="398159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Computer Vision-based system for automatic plastic waste detection in water bodies. 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and classify different types of floating plastic waste using deep learning models. 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water bodies continuously through cameras, drones, or surveillance systems. Provide real-time alerts when significant plastic waste is detected. 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environmental agencies in planning efficient cleanup and waste management activities. 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pollution monitoring accuracy while reducing manual effort and operational costs.</a:t>
            </a:r>
            <a:endParaRPr lang="en-US" sz="18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23795" y="1788420"/>
            <a:ext cx="83657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OBJECTIVES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7826E5E-7AD1-8187-8602-FB07712A61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67" y="294968"/>
            <a:ext cx="10598433" cy="1395719"/>
          </a:xfrm>
          <a:prstGeom prst="rect">
            <a:avLst/>
          </a:prstGeom>
        </p:spPr>
      </p:pic>
      <p:pic>
        <p:nvPicPr>
          <p:cNvPr id="2050" name="Picture 2" descr="IoT and 5G aquatic drones: real use cases in blue sustainabil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2058" y="2946400"/>
            <a:ext cx="2931886" cy="271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4392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2FC272-F7A3-2F45-FD89-105FA76A3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804" y="384048"/>
            <a:ext cx="10515600" cy="667262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ARCHITECTURE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384048"/>
            <a:ext cx="233172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latin typeface="Aptos"/>
              </a:rPr>
              <a:t>END-TO-END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1148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508760"/>
            <a:ext cx="1965960" cy="960120"/>
          </a:xfrm>
          <a:prstGeom prst="roundRect">
            <a:avLst/>
          </a:prstGeom>
          <a:solidFill>
            <a:srgbClr val="10304B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627631"/>
            <a:ext cx="1746504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chemeClr val="bg1"/>
                </a:solidFill>
                <a:latin typeface="Aptos"/>
              </a:rPr>
              <a:t>1.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8124"/>
            <a:ext cx="1746504" cy="24314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chemeClr val="bg1"/>
                </a:solidFill>
                <a:latin typeface="Aptos"/>
              </a:rPr>
              <a:t>Images / video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1488" y="1508760"/>
            <a:ext cx="1965960" cy="960120"/>
          </a:xfrm>
          <a:prstGeom prst="roundRect">
            <a:avLst/>
          </a:prstGeom>
          <a:solidFill>
            <a:srgbClr val="10304B"/>
          </a:solidFill>
          <a:ln>
            <a:solidFill>
              <a:srgbClr val="61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71216" y="1627631"/>
            <a:ext cx="1746504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chemeClr val="bg1"/>
                </a:solidFill>
                <a:latin typeface="Aptos"/>
              </a:rPr>
              <a:t>2. PREPROCESS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1216" y="2018124"/>
            <a:ext cx="1746504" cy="24314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chemeClr val="bg1"/>
                </a:solidFill>
                <a:latin typeface="Aptos"/>
              </a:rPr>
              <a:t>Validate • resize • enhance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92624" y="1508760"/>
            <a:ext cx="1965960" cy="960120"/>
          </a:xfrm>
          <a:prstGeom prst="roundRect">
            <a:avLst/>
          </a:prstGeom>
          <a:solidFill>
            <a:srgbClr val="10304B"/>
          </a:solidFill>
          <a:ln>
            <a:solidFill>
              <a:srgbClr val="FFB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02352" y="1627631"/>
            <a:ext cx="1746504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chemeClr val="bg1"/>
                </a:solidFill>
                <a:latin typeface="Aptos"/>
              </a:rPr>
              <a:t>3. DETECT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2352" y="2018124"/>
            <a:ext cx="1746504" cy="24314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chemeClr val="bg1"/>
                </a:solidFill>
                <a:latin typeface="Aptos"/>
              </a:rPr>
              <a:t>YOLOv8 plastic detection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1508760"/>
            <a:ext cx="1965960" cy="960120"/>
          </a:xfrm>
          <a:prstGeom prst="roundRect">
            <a:avLst/>
          </a:prstGeom>
          <a:solidFill>
            <a:srgbClr val="10304B"/>
          </a:solidFill>
          <a:ln>
            <a:solidFill>
              <a:srgbClr val="F77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33488" y="1627631"/>
            <a:ext cx="1746504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chemeClr val="bg1"/>
                </a:solidFill>
                <a:latin typeface="Aptos"/>
              </a:rPr>
              <a:t>4. 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2018124"/>
            <a:ext cx="1746504" cy="24314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chemeClr val="bg1"/>
                </a:solidFill>
                <a:latin typeface="Aptos"/>
              </a:rPr>
              <a:t>Masks • features • size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54896" y="1508760"/>
            <a:ext cx="2148840" cy="960120"/>
          </a:xfrm>
          <a:prstGeom prst="roundRect">
            <a:avLst/>
          </a:prstGeom>
          <a:solidFill>
            <a:srgbClr val="10304B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564624" y="1627631"/>
            <a:ext cx="1929384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chemeClr val="bg1"/>
                </a:solidFill>
                <a:latin typeface="Aptos"/>
              </a:rPr>
              <a:t>5. PRESENT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64624" y="2018124"/>
            <a:ext cx="1929384" cy="24314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chemeClr val="bg1"/>
                </a:solidFill>
                <a:latin typeface="Aptos"/>
              </a:rPr>
              <a:t>API • dashboard</a:t>
            </a:r>
          </a:p>
        </p:txBody>
      </p:sp>
      <p:cxnSp>
        <p:nvCxnSpPr>
          <p:cNvPr id="24" name="Connector 20"/>
          <p:cNvCxnSpPr/>
          <p:nvPr/>
        </p:nvCxnSpPr>
        <p:spPr>
          <a:xfrm>
            <a:off x="2514600" y="1993392"/>
            <a:ext cx="182880" cy="0"/>
          </a:xfrm>
          <a:prstGeom prst="line">
            <a:avLst/>
          </a:prstGeom>
          <a:ln w="25400">
            <a:solidFill>
              <a:srgbClr val="61D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1"/>
          <p:cNvCxnSpPr/>
          <p:nvPr/>
        </p:nvCxnSpPr>
        <p:spPr>
          <a:xfrm>
            <a:off x="4745736" y="1993392"/>
            <a:ext cx="182880" cy="0"/>
          </a:xfrm>
          <a:prstGeom prst="line">
            <a:avLst/>
          </a:prstGeom>
          <a:ln w="25400">
            <a:solidFill>
              <a:srgbClr val="61D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2"/>
          <p:cNvCxnSpPr/>
          <p:nvPr/>
        </p:nvCxnSpPr>
        <p:spPr>
          <a:xfrm>
            <a:off x="6976871" y="1993392"/>
            <a:ext cx="182881" cy="0"/>
          </a:xfrm>
          <a:prstGeom prst="line">
            <a:avLst/>
          </a:prstGeom>
          <a:ln w="25400">
            <a:solidFill>
              <a:srgbClr val="61D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3"/>
          <p:cNvCxnSpPr/>
          <p:nvPr/>
        </p:nvCxnSpPr>
        <p:spPr>
          <a:xfrm>
            <a:off x="9208008" y="1993392"/>
            <a:ext cx="182880" cy="0"/>
          </a:xfrm>
          <a:prstGeom prst="line">
            <a:avLst/>
          </a:prstGeom>
          <a:ln w="25400">
            <a:solidFill>
              <a:srgbClr val="61D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4400" y="3154680"/>
            <a:ext cx="3063240" cy="1170432"/>
          </a:xfrm>
          <a:prstGeom prst="roundRect">
            <a:avLst/>
          </a:prstGeom>
          <a:solidFill>
            <a:srgbClr val="10304B"/>
          </a:solidFill>
          <a:ln>
            <a:solidFill>
              <a:srgbClr val="28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14400" y="3264408"/>
            <a:ext cx="50292" cy="950976"/>
          </a:xfrm>
          <a:prstGeom prst="rect">
            <a:avLst/>
          </a:prstGeom>
          <a:solidFill>
            <a:srgbClr val="00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78992" y="3300984"/>
            <a:ext cx="2770632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chemeClr val="bg1"/>
                </a:solidFill>
                <a:latin typeface="Aptos"/>
              </a:rPr>
              <a:t>DATA QUALITY / MODULE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3794760"/>
            <a:ext cx="274320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chemeClr val="bg1"/>
                </a:solidFill>
                <a:latin typeface="Aptos"/>
              </a:rPr>
              <a:t>Duplicate checks • image integrity • annotation readiness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53712" y="3154680"/>
            <a:ext cx="3063240" cy="1170432"/>
          </a:xfrm>
          <a:prstGeom prst="roundRect">
            <a:avLst/>
          </a:prstGeom>
          <a:solidFill>
            <a:srgbClr val="10304B"/>
          </a:solidFill>
          <a:ln>
            <a:solidFill>
              <a:srgbClr val="28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53712" y="3264408"/>
            <a:ext cx="50292" cy="950976"/>
          </a:xfrm>
          <a:prstGeom prst="rect">
            <a:avLst/>
          </a:prstGeom>
          <a:solidFill>
            <a:srgbClr val="FFB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718304" y="3300984"/>
            <a:ext cx="2770632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chemeClr val="bg1"/>
                </a:solidFill>
                <a:latin typeface="Aptos"/>
              </a:rPr>
              <a:t>EVALUATION / MODULE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18304" y="3794760"/>
            <a:ext cx="27432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chemeClr val="bg1"/>
                </a:solidFill>
                <a:latin typeface="Aptos"/>
              </a:rPr>
              <a:t>Precision • recall • mAP • inference speed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93024" y="3154680"/>
            <a:ext cx="3063240" cy="1170432"/>
          </a:xfrm>
          <a:prstGeom prst="roundRect">
            <a:avLst/>
          </a:prstGeom>
          <a:solidFill>
            <a:srgbClr val="10304B"/>
          </a:solidFill>
          <a:ln>
            <a:solidFill>
              <a:srgbClr val="28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193024" y="3264408"/>
            <a:ext cx="50292" cy="950976"/>
          </a:xfrm>
          <a:prstGeom prst="rect">
            <a:avLst/>
          </a:prstGeom>
          <a:solidFill>
            <a:srgbClr val="61D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357616" y="3300984"/>
            <a:ext cx="2770632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chemeClr val="bg1"/>
                </a:solidFill>
                <a:latin typeface="Aptos"/>
              </a:rPr>
              <a:t>RESULTS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7616" y="3794760"/>
            <a:ext cx="274320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dirty="0">
                <a:solidFill>
                  <a:schemeClr val="bg1"/>
                </a:solidFill>
                <a:latin typeface="Aptos"/>
              </a:rPr>
              <a:t>Annotated images • prediction metadata • reports</a:t>
            </a:r>
          </a:p>
        </p:txBody>
      </p:sp>
      <p:cxnSp>
        <p:nvCxnSpPr>
          <p:cNvPr id="40" name="Connector 36"/>
          <p:cNvCxnSpPr/>
          <p:nvPr/>
        </p:nvCxnSpPr>
        <p:spPr>
          <a:xfrm>
            <a:off x="2441448" y="2514600"/>
            <a:ext cx="0" cy="576072"/>
          </a:xfrm>
          <a:prstGeom prst="line">
            <a:avLst/>
          </a:prstGeom>
          <a:ln w="19050">
            <a:solidFill>
              <a:srgbClr val="739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37"/>
          <p:cNvCxnSpPr/>
          <p:nvPr/>
        </p:nvCxnSpPr>
        <p:spPr>
          <a:xfrm>
            <a:off x="6080760" y="2514600"/>
            <a:ext cx="0" cy="576072"/>
          </a:xfrm>
          <a:prstGeom prst="line">
            <a:avLst/>
          </a:prstGeom>
          <a:ln w="19050">
            <a:solidFill>
              <a:srgbClr val="739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38"/>
          <p:cNvCxnSpPr/>
          <p:nvPr/>
        </p:nvCxnSpPr>
        <p:spPr>
          <a:xfrm>
            <a:off x="9720072" y="2514600"/>
            <a:ext cx="0" cy="576072"/>
          </a:xfrm>
          <a:prstGeom prst="line">
            <a:avLst/>
          </a:prstGeom>
          <a:ln w="19050">
            <a:solidFill>
              <a:srgbClr val="739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77240" y="4892040"/>
            <a:ext cx="10698480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 dirty="0">
                <a:latin typeface="Times New Roman" pitchFamily="18" charset="0"/>
                <a:cs typeface="Times New Roman" pitchFamily="18" charset="0"/>
              </a:rPr>
              <a:t>Operational flow</a:t>
            </a:r>
            <a:r>
              <a:rPr sz="1500" b="0" i="0" dirty="0">
                <a:latin typeface="Times New Roman" pitchFamily="18" charset="0"/>
                <a:cs typeface="Times New Roman" pitchFamily="18" charset="0"/>
              </a:rPr>
              <a:t>: user submits an image/video → API validates input → preprocessing and detector run → optional segmentation/features are attached → results are shown in the </a:t>
            </a:r>
            <a:r>
              <a:rPr sz="1500" b="0" i="0" dirty="0" smtClean="0">
                <a:latin typeface="Times New Roman" pitchFamily="18" charset="0"/>
                <a:cs typeface="Times New Roman" pitchFamily="18" charset="0"/>
              </a:rPr>
              <a:t>dashboard</a:t>
            </a:r>
            <a:r>
              <a:rPr lang="en-US" sz="1500" b="0" i="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1500" b="0" i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1500" b="0" i="0" dirty="0" smtClean="0">
                <a:latin typeface="Times New Roman" pitchFamily="18" charset="0"/>
                <a:cs typeface="Times New Roman" pitchFamily="18" charset="0"/>
              </a:rPr>
              <a:t>evaluates </a:t>
            </a:r>
            <a:r>
              <a:rPr sz="1500" b="0" i="0" dirty="0">
                <a:latin typeface="Times New Roman" pitchFamily="18" charset="0"/>
                <a:cs typeface="Times New Roman" pitchFamily="18" charset="0"/>
              </a:rPr>
              <a:t>both data readiness and model performance.</a:t>
            </a:r>
          </a:p>
        </p:txBody>
      </p:sp>
    </p:spTree>
    <p:extLst>
      <p:ext uri="{BB962C8B-B14F-4D97-AF65-F5344CB8AC3E}">
        <p14:creationId xmlns:p14="http://schemas.microsoft.com/office/powerpoint/2010/main" val="4050584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733274" y="569220"/>
            <a:ext cx="83657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MODULE INTRODUCTION</a:t>
            </a:r>
            <a:endParaRPr lang="en-US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1261872"/>
            <a:ext cx="5257800" cy="1243584"/>
          </a:xfrm>
          <a:prstGeom prst="roundRect">
            <a:avLst/>
          </a:prstGeom>
          <a:solidFill>
            <a:srgbClr val="10304B"/>
          </a:solidFill>
          <a:ln>
            <a:solidFill>
              <a:srgbClr val="28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59" y="1371600"/>
            <a:ext cx="10972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dirty="0">
                <a:solidFill>
                  <a:schemeClr val="accent1">
                    <a:lumMod val="40000"/>
                    <a:lumOff val="60000"/>
                  </a:schemeClr>
                </a:solidFill>
                <a:latin typeface="Aptos"/>
              </a:rPr>
              <a:t>MODULE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2808" y="1353312"/>
            <a:ext cx="3840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chemeClr val="bg1"/>
                </a:solidFill>
                <a:latin typeface="Aptos"/>
              </a:rPr>
              <a:t>Image Acquisition &amp; Preprocessing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1837943"/>
            <a:ext cx="48920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chemeClr val="bg1"/>
                </a:solidFill>
                <a:latin typeface="Aptos"/>
              </a:rPr>
              <a:t>V. Venkata Susheel Chowdary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2157984"/>
            <a:ext cx="489204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chemeClr val="bg1"/>
                </a:solidFill>
                <a:latin typeface="Aptos"/>
              </a:rPr>
              <a:t>192472060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1928" y="1261872"/>
            <a:ext cx="5257800" cy="1243584"/>
          </a:xfrm>
          <a:prstGeom prst="roundRect">
            <a:avLst/>
          </a:prstGeom>
          <a:solidFill>
            <a:srgbClr val="10304B"/>
          </a:solidFill>
          <a:ln>
            <a:solidFill>
              <a:srgbClr val="28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46520" y="1371600"/>
            <a:ext cx="10972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dirty="0">
                <a:solidFill>
                  <a:srgbClr val="FFC000"/>
                </a:solidFill>
                <a:latin typeface="Aptos"/>
              </a:rPr>
              <a:t>MODULE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1353312"/>
            <a:ext cx="3840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chemeClr val="bg1"/>
                </a:solidFill>
                <a:latin typeface="Aptos"/>
              </a:rPr>
              <a:t>Segmentation &amp; Feature Extraction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1837943"/>
            <a:ext cx="48920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chemeClr val="bg1"/>
                </a:solidFill>
                <a:latin typeface="Aptos"/>
              </a:rPr>
              <a:t>Y. Abhay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2157984"/>
            <a:ext cx="489204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chemeClr val="bg1"/>
                </a:solidFill>
                <a:latin typeface="Aptos"/>
              </a:rPr>
              <a:t>192411219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2752344"/>
            <a:ext cx="5257800" cy="1243584"/>
          </a:xfrm>
          <a:prstGeom prst="roundRect">
            <a:avLst/>
          </a:prstGeom>
          <a:solidFill>
            <a:srgbClr val="10304B"/>
          </a:solidFill>
          <a:ln>
            <a:solidFill>
              <a:srgbClr val="28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2959" y="2862072"/>
            <a:ext cx="10972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/>
              </a:rPr>
              <a:t>MODULE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92808" y="2843784"/>
            <a:ext cx="3840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chemeClr val="bg1"/>
                </a:solidFill>
                <a:latin typeface="Aptos"/>
              </a:rPr>
              <a:t>Plastic Waste Detection &amp; Classification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3328415"/>
            <a:ext cx="48920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chemeClr val="bg1"/>
                </a:solidFill>
                <a:latin typeface="Aptos"/>
              </a:rPr>
              <a:t>T. Gnana Ashwanth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3648456"/>
            <a:ext cx="489204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chemeClr val="bg1"/>
                </a:solidFill>
                <a:latin typeface="Aptos"/>
              </a:rPr>
              <a:t>192472174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81928" y="2752344"/>
            <a:ext cx="5257800" cy="1243584"/>
          </a:xfrm>
          <a:prstGeom prst="roundRect">
            <a:avLst/>
          </a:prstGeom>
          <a:solidFill>
            <a:srgbClr val="10304B"/>
          </a:solidFill>
          <a:ln>
            <a:solidFill>
              <a:srgbClr val="28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46520" y="2862072"/>
            <a:ext cx="10972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ptos"/>
              </a:rPr>
              <a:t>MODULE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8" y="2843784"/>
            <a:ext cx="3840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chemeClr val="bg1"/>
                </a:solidFill>
                <a:latin typeface="Aptos"/>
              </a:rPr>
              <a:t>Dashboard &amp; REST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3328415"/>
            <a:ext cx="48920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chemeClr val="bg1"/>
                </a:solidFill>
                <a:latin typeface="Aptos"/>
              </a:rPr>
              <a:t>M. Jashwanth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3648456"/>
            <a:ext cx="489204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chemeClr val="bg1"/>
                </a:solidFill>
                <a:latin typeface="Aptos"/>
              </a:rPr>
              <a:t>192472280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74720" y="4352543"/>
            <a:ext cx="5257800" cy="1291020"/>
          </a:xfrm>
          <a:prstGeom prst="roundRect">
            <a:avLst/>
          </a:prstGeom>
          <a:solidFill>
            <a:srgbClr val="10304B"/>
          </a:solidFill>
          <a:ln>
            <a:solidFill>
              <a:srgbClr val="28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639312" y="4462272"/>
            <a:ext cx="10972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dirty="0">
                <a:solidFill>
                  <a:srgbClr val="FFFF00"/>
                </a:solidFill>
                <a:latin typeface="Aptos"/>
              </a:rPr>
              <a:t>MODULE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4443984"/>
            <a:ext cx="3840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chemeClr val="bg1"/>
                </a:solidFill>
                <a:latin typeface="Aptos"/>
              </a:rPr>
              <a:t>Dataset Audit &amp; Model Evaluation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791456"/>
            <a:ext cx="4892040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dirty="0">
                <a:solidFill>
                  <a:schemeClr val="bg1"/>
                </a:solidFill>
                <a:latin typeface="Aptos"/>
              </a:rPr>
              <a:t>N </a:t>
            </a:r>
            <a:r>
              <a:rPr sz="1000" b="1" i="0" dirty="0" err="1">
                <a:solidFill>
                  <a:schemeClr val="bg1"/>
                </a:solidFill>
                <a:latin typeface="Aptos"/>
              </a:rPr>
              <a:t>Venkata</a:t>
            </a:r>
            <a:r>
              <a:rPr sz="1000" b="1" i="0" dirty="0">
                <a:solidFill>
                  <a:schemeClr val="bg1"/>
                </a:solidFill>
                <a:latin typeface="Aptos"/>
              </a:rPr>
              <a:t> </a:t>
            </a:r>
            <a:r>
              <a:rPr sz="1000" b="1" i="0" dirty="0" err="1">
                <a:solidFill>
                  <a:schemeClr val="bg1"/>
                </a:solidFill>
                <a:latin typeface="Aptos"/>
              </a:rPr>
              <a:t>saisohith</a:t>
            </a:r>
            <a:r>
              <a:rPr sz="1000" b="1" i="0" dirty="0">
                <a:solidFill>
                  <a:schemeClr val="bg1"/>
                </a:solidFill>
                <a:latin typeface="Aptos"/>
              </a:rPr>
              <a:t>  </a:t>
            </a:r>
            <a:endParaRPr lang="en-US" sz="1000" b="1" i="0" dirty="0" smtClean="0">
              <a:solidFill>
                <a:schemeClr val="bg1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endParaRPr lang="en-US" sz="1000" b="1" i="0" dirty="0" smtClean="0">
              <a:solidFill>
                <a:schemeClr val="bg1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r>
              <a:rPr sz="1000" b="1" i="0" dirty="0" smtClean="0">
                <a:solidFill>
                  <a:schemeClr val="bg1"/>
                </a:solidFill>
                <a:latin typeface="Aptos"/>
              </a:rPr>
              <a:t>•  192425140</a:t>
            </a:r>
            <a:endParaRPr sz="1000" b="1" i="0" dirty="0">
              <a:solidFill>
                <a:schemeClr val="bg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525680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type="pic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5" b="1515"/>
          <a:stretch>
            <a:fillRect/>
          </a:stretch>
        </p:blipFill>
        <p:spPr bwMode="auto">
          <a:xfrm>
            <a:off x="0" y="139700"/>
            <a:ext cx="11798300" cy="623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2002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731</TotalTime>
  <Words>596</Words>
  <Application>Microsoft Office PowerPoint</Application>
  <PresentationFormat>Custom</PresentationFormat>
  <Paragraphs>117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ARCHITECTURE DIAGRAM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Information System for Small-Scale Farmers</dc:title>
  <dc:creator>admin</dc:creator>
  <cp:lastModifiedBy>Harsha</cp:lastModifiedBy>
  <cp:revision>435</cp:revision>
  <dcterms:created xsi:type="dcterms:W3CDTF">2018-12-29T07:03:00Z</dcterms:created>
  <dcterms:modified xsi:type="dcterms:W3CDTF">2026-10-14T03:51:49Z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1033-11.2.0.9150</vt:lpwstr>
  </property>
</Properties>
</file>